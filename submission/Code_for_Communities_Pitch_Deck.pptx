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a276fa5bb8474a" /><Relationship Type="http://schemas.openxmlformats.org/officeDocument/2006/relationships/extended-properties" Target="/docProps/app.xml" Id="R203c3a3ddc7847ac" /><Relationship Type="http://schemas.openxmlformats.org/officeDocument/2006/relationships/officeDocument" Target="/ppt/presentation.xml" Id="R42ad24deb0dd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a19de8657f4ab9"/>
  </p:sldMasterIdLst>
  <p:notesMasterIdLst>
    <p:notesMasterId xmlns:r="http://schemas.openxmlformats.org/officeDocument/2006/relationships" r:id="R7f8faf0b3d5c4162"/>
  </p:notesMasterIdLst>
  <p:sldIdLst>
    <p:sldId xmlns:r="http://schemas.openxmlformats.org/officeDocument/2006/relationships" id="256" r:id="R159bcfc2db8941ea"/>
    <p:sldId xmlns:r="http://schemas.openxmlformats.org/officeDocument/2006/relationships" id="257" r:id="Re4c520bb09024a9d"/>
    <p:sldId xmlns:r="http://schemas.openxmlformats.org/officeDocument/2006/relationships" id="258" r:id="Ra8ae0f71e806436b"/>
    <p:sldId xmlns:r="http://schemas.openxmlformats.org/officeDocument/2006/relationships" id="259" r:id="R6d1805db037845fb"/>
    <p:sldId xmlns:r="http://schemas.openxmlformats.org/officeDocument/2006/relationships" id="260" r:id="Rfc6461d7effe4938"/>
    <p:sldId xmlns:r="http://schemas.openxmlformats.org/officeDocument/2006/relationships" id="261" r:id="R673e4d16c9044b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d9b6503ac24207" /><Relationship Type="http://schemas.openxmlformats.org/officeDocument/2006/relationships/slideMaster" Target="/ppt/slideMasters/slideMaster1.xml" Id="Rb7a19de8657f4ab9" /><Relationship Type="http://schemas.openxmlformats.org/officeDocument/2006/relationships/notesMaster" Target="/ppt/notesMasters/notesMaster1.xml" Id="R7f8faf0b3d5c4162" /><Relationship Type="http://schemas.openxmlformats.org/officeDocument/2006/relationships/presProps" Target="/ppt/presProps.xml" Id="R9174795b314c4117" /><Relationship Type="http://schemas.openxmlformats.org/officeDocument/2006/relationships/tableStyles" Target="/ppt/tableStyles.xml" Id="Rf23838cd705e48bf" /><Relationship Type="http://schemas.openxmlformats.org/officeDocument/2006/relationships/slide" Target="/ppt/slides/slide1.xml" Id="R159bcfc2db8941ea" /><Relationship Type="http://schemas.openxmlformats.org/officeDocument/2006/relationships/slide" Target="/ppt/slides/slide2.xml" Id="Re4c520bb09024a9d" /><Relationship Type="http://schemas.openxmlformats.org/officeDocument/2006/relationships/slide" Target="/ppt/slides/slide3.xml" Id="Ra8ae0f71e806436b" /><Relationship Type="http://schemas.openxmlformats.org/officeDocument/2006/relationships/slide" Target="/ppt/slides/slide4.xml" Id="R6d1805db037845fb" /><Relationship Type="http://schemas.openxmlformats.org/officeDocument/2006/relationships/slide" Target="/ppt/slides/slide5.xml" Id="Rfc6461d7effe4938" /><Relationship Type="http://schemas.openxmlformats.org/officeDocument/2006/relationships/slide" Target="/ppt/slides/slide6.xml" Id="R673e4d16c904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9509150070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a6f14fc6a495a" /><Relationship Type="http://schemas.openxmlformats.org/officeDocument/2006/relationships/notesMaster" Target="/ppt/notesMasters/notesMaster1.xml" Id="R3ce76e37594d4b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b4c7872964630" /><Relationship Type="http://schemas.openxmlformats.org/officeDocument/2006/relationships/notesMaster" Target="/ppt/notesMasters/notesMaster1.xml" Id="R19651553832b4a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c81efc75c4946" /><Relationship Type="http://schemas.openxmlformats.org/officeDocument/2006/relationships/notesMaster" Target="/ppt/notesMasters/notesMaster1.xml" Id="R5f53bf2ce2e54b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24ad0a80c41a6" /><Relationship Type="http://schemas.openxmlformats.org/officeDocument/2006/relationships/notesMaster" Target="/ppt/notesMasters/notesMaster1.xml" Id="R1c9e679d4bc64c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a7f3a1e5ad4a83" /><Relationship Type="http://schemas.openxmlformats.org/officeDocument/2006/relationships/notesMaster" Target="/ppt/notesMasters/notesMaster1.xml" Id="R8c19ef4fc13e4e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f86045e724b6c" /><Relationship Type="http://schemas.openxmlformats.org/officeDocument/2006/relationships/notesMaster" Target="/ppt/notesMasters/notesMaster1.xml" Id="R0b74dce00b4b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pitch deck. The implementation status is described as it exists in the repository: backend and documentation are present; frontend, Gemini integration, and ASR integration are not yet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addresses a product hypothesis: multilingual community feedback can be easier to review when intake, receipts, status, and aggregate views share a workflow. No baseline research or measured community impact is claimed in this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worker classifies text with the configured mock or HTTP NLP adapter. For audio, the worker records an ASR-not-configured review state. The deck does not claim a working speech transcription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 teal nodes are implemented locally. Orange nodes and dashed links show work that is planned but not connected. The backend has a mock text classifier by default and a generic HTTP NLP adapter. ASR and Gemini are not integrated. Google Cloud deployment is a proposal, not a live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keeps decisions with authorized people. The staff correction route records audit events. Priority analytics use raw report counts and carry a caveat that counts are not population-adjusted. No measured impact or model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 local demonstration, use Swagger at http://127.0.0.1:8000/docs with synthetic data. Submit a live demo URL only after the hosted end-to-end path has been verified. The repository README and docs/HACKATHON_SUBMISSION.md explain the prototype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60021f9a343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48bce411d4805" /><Relationship Type="http://schemas.openxmlformats.org/officeDocument/2006/relationships/slideLayout" Target="/ppt/slideLayouts/slideLayout1.xml" Id="Rf9af85b3caea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f85b3caea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d439c6c94738" /><Relationship Type="http://schemas.openxmlformats.org/officeDocument/2006/relationships/notesSlide" Target="/ppt/notesSlides/notesSlide1.xml" Id="R603aeeb11566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48d7052d94186" /><Relationship Type="http://schemas.openxmlformats.org/officeDocument/2006/relationships/notesSlide" Target="/ppt/notesSlides/notesSlide2.xml" Id="R54d4dbc5551a44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7bb148c964fe4" /><Relationship Type="http://schemas.openxmlformats.org/officeDocument/2006/relationships/notesSlide" Target="/ppt/notesSlides/notesSlide3.xml" Id="Rb9f5fe132056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06defa4314f22" /><Relationship Type="http://schemas.openxmlformats.org/officeDocument/2006/relationships/notesSlide" Target="/ppt/notesSlides/notesSlide4.xml" Id="Rbf8441f99151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ae46507b64ed9" /><Relationship Type="http://schemas.openxmlformats.org/officeDocument/2006/relationships/notesSlide" Target="/ppt/notesSlides/notesSlide5.xml" Id="R5ab4fde62be945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dbe4fa71a4567" /><Relationship Type="http://schemas.openxmlformats.org/officeDocument/2006/relationships/notesSlide" Target="/ppt/notesSlides/notesSlide6.xml" Id="Red662c5382b0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FDC8109-D549-47E2-BD5D-FDED391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57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57B22B7-630B-453A-801C-92D396E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91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for Digital</a:t>
            </a:r>
          </a:p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Infrastructure &amp; Governance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1C93CE2-56C6-436B-B23B-C3FA201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9925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6E4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6E4E6"/>
                </a:solidFill>
                <a:latin typeface="Arial"/>
                <a:ea typeface="Arial"/>
                <a:cs typeface="Arial"/>
              </a:rPr>
              <a:t>Multilingual civic feedback | Backend/API prototype</a:t>
            </a:r>
          </a:p>
        </p:txBody>
      </p:sp>
      <p:sp>
        <p:nvSpPr>
          <p:cNvPr id="4" name="cover-track">
            <a:extLst xmlns:a="http://schemas.openxmlformats.org/drawingml/2006/main">
              <a:ext uri="{FF2B5EF4-FFF2-40B4-BE49-F238E27FC236}">
                <a16:creationId xmlns:a16="http://schemas.microsoft.com/office/drawing/2014/main" id="{5B090585-C7C3-4F14-9B78-80C91A2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3C7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3C7B8"/>
                </a:solidFill>
                <a:latin typeface="Arial"/>
                <a:ea typeface="Arial"/>
                <a:cs typeface="Arial"/>
              </a:rPr>
              <a:t>Code for Communities Hackathon  ·  Innovation track</a:t>
            </a:r>
          </a:p>
        </p:txBody>
      </p:sp>
      <p:sp>
        <p:nvSpPr>
          <p:cNvPr id="5" name="cover-repo">
            <a:extLst xmlns:a="http://schemas.openxmlformats.org/drawingml/2006/main">
              <a:ext uri="{FF2B5EF4-FFF2-40B4-BE49-F238E27FC236}">
                <a16:creationId xmlns:a16="http://schemas.microsoft.com/office/drawing/2014/main" id="{B7BFBAC3-A8A4-4366-87EA-E4F0E4D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4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E6"/>
                </a:solidFill>
                <a:latin typeface="Arial"/>
                <a:ea typeface="Arial"/>
                <a:cs typeface="Arial"/>
              </a:rPr>
              <a:t>github.com/SauravKumar2015/AI-for-Digital-Public-Infrastructure-Governance</a:t>
            </a:r>
          </a:p>
        </p:txBody>
      </p:sp>
    </p:spTree>
    <p:extLst>
      <p:ext uri="{BB962C8B-B14F-4D97-AF65-F5344CB8AC3E}">
        <p14:creationId xmlns:p14="http://schemas.microsoft.com/office/powerpoint/2010/main" val="593016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8BD183-C703-4E07-B1FA-075E4ED7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Community reports need a reviewable path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FCFB95-C590-4C2D-A847-6F2C981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ident-heading">
            <a:extLst xmlns:a="http://schemas.openxmlformats.org/drawingml/2006/main">
              <a:ext uri="{FF2B5EF4-FFF2-40B4-BE49-F238E27FC236}">
                <a16:creationId xmlns:a16="http://schemas.microsoft.com/office/drawing/2014/main" id="{B1994671-1F7C-4262-95A3-F2AC099E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For residents</a:t>
            </a:r>
          </a:p>
        </p:txBody>
      </p:sp>
      <p:sp>
        <p:nvSpPr>
          <p:cNvPr id="4" name="resident-copy">
            <a:extLst xmlns:a="http://schemas.openxmlformats.org/drawingml/2006/main">
              <a:ext uri="{FF2B5EF4-FFF2-40B4-BE49-F238E27FC236}">
                <a16:creationId xmlns:a16="http://schemas.microsoft.com/office/drawing/2014/main" id="{8FA1C455-C419-4A5D-9487-4537101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6"/>
                </a:solidFill>
                <a:latin typeface="Arial"/>
                <a:ea typeface="Arial"/>
                <a:cs typeface="Arial"/>
              </a:rPr>
              <a:t>A local concern should be reportable in the language and format a person can use, with a receipt they can refer to later.</a:t>
            </a:r>
          </a:p>
        </p:txBody>
      </p:sp>
      <p:sp>
        <p:nvSpPr>
          <p:cNvPr id="5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7EB2AB34-82B3-442C-B93A-993A0C8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ff-heading">
            <a:extLst xmlns:a="http://schemas.openxmlformats.org/drawingml/2006/main">
              <a:ext uri="{FF2B5EF4-FFF2-40B4-BE49-F238E27FC236}">
                <a16:creationId xmlns:a16="http://schemas.microsoft.com/office/drawing/2014/main" id="{26A5DCE9-DE33-4D96-9C25-627C4EC3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For public-service teams</a:t>
            </a:r>
          </a:p>
        </p:txBody>
      </p:sp>
      <p:sp>
        <p:nvSpPr>
          <p:cNvPr id="7" name="staff-copy">
            <a:extLst xmlns:a="http://schemas.openxmlformats.org/drawingml/2006/main">
              <a:ext uri="{FF2B5EF4-FFF2-40B4-BE49-F238E27FC236}">
                <a16:creationId xmlns:a16="http://schemas.microsoft.com/office/drawing/2014/main" id="{6C760836-2809-4A8B-AB10-452AC427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6"/>
                </a:solidFill>
                <a:latin typeface="Arial"/>
                <a:ea typeface="Arial"/>
                <a:cs typeface="Arial"/>
              </a:rPr>
              <a:t>Submissions need a consistent workflow for review, status updates, and aggregate views that help teams notice where reports are coming from.</a:t>
            </a:r>
          </a:p>
        </p:txBody>
      </p:sp>
      <p:sp>
        <p:nvSpPr>
          <p:cNvPr id="8" name="purpose-note">
            <a:extLst xmlns:a="http://schemas.openxmlformats.org/drawingml/2006/main">
              <a:ext uri="{FF2B5EF4-FFF2-40B4-BE49-F238E27FC236}">
                <a16:creationId xmlns:a16="http://schemas.microsoft.com/office/drawing/2014/main" id="{E80BFCD7-BC07-4562-B8F7-FC089743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36B73"/>
                </a:solidFill>
                <a:latin typeface="Arial"/>
                <a:ea typeface="Arial"/>
                <a:cs typeface="Arial"/>
              </a:rPr>
              <a:t>The platform supports staff judgement; it does not make binding public decisions.</a:t>
            </a:r>
          </a:p>
        </p:txBody>
      </p:sp>
    </p:spTree>
    <p:extLst>
      <p:ext uri="{BB962C8B-B14F-4D97-AF65-F5344CB8AC3E}">
        <p14:creationId xmlns:p14="http://schemas.microsoft.com/office/powerpoint/2010/main" val="664900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6B2DBB-30E6-45D4-BF27-463655F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One workflow for intake and staff review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C065D5-4657-4498-B3CA-7F9B105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9B05D35-99AB-4C67-AF47-4E6511C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850456E8-0D5C-489F-A10B-2A5D0D71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5" name="step-copy-0">
            <a:extLst xmlns:a="http://schemas.openxmlformats.org/drawingml/2006/main">
              <a:ext uri="{FF2B5EF4-FFF2-40B4-BE49-F238E27FC236}">
                <a16:creationId xmlns:a16="http://schemas.microsoft.com/office/drawing/2014/main" id="{DDFAD7C8-0B24-4F11-A3EA-54FD23F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A resident sends text or an audio recording through the API.</a:t>
            </a:r>
          </a:p>
        </p:txBody>
      </p:sp>
      <p:sp>
        <p:nvSpPr>
          <p:cNvPr id="6" name="step-divider-0">
            <a:extLst xmlns:a="http://schemas.openxmlformats.org/drawingml/2006/main">
              <a:ext uri="{FF2B5EF4-FFF2-40B4-BE49-F238E27FC236}">
                <a16:creationId xmlns:a16="http://schemas.microsoft.com/office/drawing/2014/main" id="{1A7024B1-A380-4BDE-8BB8-A9E01642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1675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E68F2B0-221F-48E4-A494-E16EDE8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859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A1BC3E87-6804-441B-88DF-4FDA8B4D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Receive</a:t>
            </a:r>
          </a:p>
        </p:txBody>
      </p:sp>
      <p:sp>
        <p:nvSpPr>
          <p:cNvPr id="9" name="step-copy-1">
            <a:extLst xmlns:a="http://schemas.openxmlformats.org/drawingml/2006/main">
              <a:ext uri="{FF2B5EF4-FFF2-40B4-BE49-F238E27FC236}">
                <a16:creationId xmlns:a16="http://schemas.microsoft.com/office/drawing/2014/main" id="{A6ED5A08-93DE-4597-B2D1-BF130B37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9925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The backend stores the submission and returns a receipt.</a:t>
            </a:r>
          </a:p>
        </p:txBody>
      </p:sp>
      <p:sp>
        <p:nvSpPr>
          <p:cNvPr id="10" name="step-divider-1">
            <a:extLst xmlns:a="http://schemas.openxmlformats.org/drawingml/2006/main">
              <a:ext uri="{FF2B5EF4-FFF2-40B4-BE49-F238E27FC236}">
                <a16:creationId xmlns:a16="http://schemas.microsoft.com/office/drawing/2014/main" id="{27F467E7-6A89-4730-AC44-3C436EAB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71675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EE408BB-80E2-4D7A-9217-3522771A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D6784AE-EA38-4F6D-A4AA-438F7C0C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3" name="step-copy-2">
            <a:extLst xmlns:a="http://schemas.openxmlformats.org/drawingml/2006/main">
              <a:ext uri="{FF2B5EF4-FFF2-40B4-BE49-F238E27FC236}">
                <a16:creationId xmlns:a16="http://schemas.microsoft.com/office/drawing/2014/main" id="{C64A950E-D5AC-4C71-8D98-510822D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A background worker handles text; the mock classifier is the current default.</a:t>
            </a:r>
          </a:p>
        </p:txBody>
      </p:sp>
      <p:sp>
        <p:nvSpPr>
          <p:cNvPr id="14" name="step-divider-2">
            <a:extLst xmlns:a="http://schemas.openxmlformats.org/drawingml/2006/main">
              <a:ext uri="{FF2B5EF4-FFF2-40B4-BE49-F238E27FC236}">
                <a16:creationId xmlns:a16="http://schemas.microsoft.com/office/drawing/2014/main" id="{CA7A0341-033F-4A37-9C3E-5E6A302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71675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15D614D-0C1E-4C33-AD51-D591B6F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E96923B-3FE7-4D62-91A5-DB637A6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" name="step-copy-3">
            <a:extLst xmlns:a="http://schemas.openxmlformats.org/drawingml/2006/main">
              <a:ext uri="{FF2B5EF4-FFF2-40B4-BE49-F238E27FC236}">
                <a16:creationId xmlns:a16="http://schemas.microsoft.com/office/drawing/2014/main" id="{B546BEED-CEBC-48A0-9B33-CA89FBE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9925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Staff can inspect reports, update status, and view aggregate counts.</a:t>
            </a:r>
          </a:p>
        </p:txBody>
      </p:sp>
      <p:sp>
        <p:nvSpPr>
          <p:cNvPr id="18" name="audio-note-rule">
            <a:extLst xmlns:a="http://schemas.openxmlformats.org/drawingml/2006/main">
              <a:ext uri="{FF2B5EF4-FFF2-40B4-BE49-F238E27FC236}">
                <a16:creationId xmlns:a16="http://schemas.microsoft.com/office/drawing/2014/main" id="{9D0BDD02-F069-49AC-90BF-3464C00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dio-note">
            <a:extLst xmlns:a="http://schemas.openxmlformats.org/drawingml/2006/main">
              <a:ext uri="{FF2B5EF4-FFF2-40B4-BE49-F238E27FC236}">
                <a16:creationId xmlns:a16="http://schemas.microsoft.com/office/drawing/2014/main" id="{63E81FE1-21EF-4CF6-99DE-93836894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75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753D"/>
                </a:solidFill>
                <a:latin typeface="Arial"/>
                <a:ea typeface="Arial"/>
                <a:cs typeface="Arial"/>
              </a:rPr>
              <a:t>Audio intake works; transcription is not connected yet, so audio submissions go to staff review.</a:t>
            </a:r>
          </a:p>
        </p:txBody>
      </p:sp>
    </p:spTree>
    <p:extLst>
      <p:ext uri="{BB962C8B-B14F-4D97-AF65-F5344CB8AC3E}">
        <p14:creationId xmlns:p14="http://schemas.microsoft.com/office/powerpoint/2010/main" val="1811615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D12DF5-D8FA-461A-BAFE-4C74E7A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Architecture and implementation status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44B54C1-AD5F-4205-9C92-DA2BB35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gend-live">
            <a:extLst xmlns:a="http://schemas.openxmlformats.org/drawingml/2006/main">
              <a:ext uri="{FF2B5EF4-FFF2-40B4-BE49-F238E27FC236}">
                <a16:creationId xmlns:a16="http://schemas.microsoft.com/office/drawing/2014/main" id="{78318F2A-3838-4C3D-9101-B25DEA29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C72"/>
          </a:solidFill>
          <a:ln xmlns:a="http://schemas.openxmlformats.org/drawingml/2006/main" w="9525">
            <a:solidFill>
              <a:srgbClr val="227C72"/>
            </a:solidFill>
            <a:prstDash val="solid"/>
          </a:ln>
        </p:spPr>
      </p:sp>
      <p:sp>
        <p:nvSpPr>
          <p:cNvPr id="4" name="legend-live-label">
            <a:extLst xmlns:a="http://schemas.openxmlformats.org/drawingml/2006/main">
              <a:ext uri="{FF2B5EF4-FFF2-40B4-BE49-F238E27FC236}">
                <a16:creationId xmlns:a16="http://schemas.microsoft.com/office/drawing/2014/main" id="{10B53433-B790-490D-8B87-32FA8E03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Implemented in local backend</a:t>
            </a:r>
          </a:p>
        </p:txBody>
      </p:sp>
      <p:sp>
        <p:nvSpPr>
          <p:cNvPr id="5" name="legend-planned">
            <a:extLst xmlns:a="http://schemas.openxmlformats.org/drawingml/2006/main">
              <a:ext uri="{FF2B5EF4-FFF2-40B4-BE49-F238E27FC236}">
                <a16:creationId xmlns:a16="http://schemas.microsoft.com/office/drawing/2014/main" id="{471D809C-BE11-41EB-9BEB-0CD9C32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43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53D"/>
          </a:solidFill>
          <a:ln xmlns:a="http://schemas.openxmlformats.org/drawingml/2006/main" w="9525">
            <a:solidFill>
              <a:srgbClr val="C8753D"/>
            </a:solidFill>
            <a:prstDash val="solid"/>
          </a:ln>
        </p:spPr>
      </p:sp>
      <p:sp>
        <p:nvSpPr>
          <p:cNvPr id="6" name="legend-planned-label">
            <a:extLst xmlns:a="http://schemas.openxmlformats.org/drawingml/2006/main">
              <a:ext uri="{FF2B5EF4-FFF2-40B4-BE49-F238E27FC236}">
                <a16:creationId xmlns:a16="http://schemas.microsoft.com/office/drawing/2014/main" id="{3B6A7EC7-5796-4A2E-9619-F9ED678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Planned / not connected</a:t>
            </a:r>
          </a:p>
        </p:txBody>
      </p:sp>
      <p:sp>
        <p:nvSpPr>
          <p:cNvPr id="7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F25C1CCC-BE62-484A-A655-08D53779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20193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7E7D8"/>
          </a:solidFill>
          <a:ln xmlns:a="http://schemas.openxmlformats.org/drawingml/2006/main" w="19050">
            <a:solidFill>
              <a:srgbClr val="C8753D"/>
            </a:solidFill>
            <a:prstDash val="solid"/>
          </a:ln>
        </p:spPr>
      </p:sp>
      <p:sp>
        <p:nvSpPr>
          <p:cNvPr id="8" name="frontend-node-label">
            <a:extLst xmlns:a="http://schemas.openxmlformats.org/drawingml/2006/main">
              <a:ext uri="{FF2B5EF4-FFF2-40B4-BE49-F238E27FC236}">
                <a16:creationId xmlns:a16="http://schemas.microsoft.com/office/drawing/2014/main" id="{6CA69C45-D361-4A25-BDB5-1428FD8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not built</a:t>
            </a:r>
          </a:p>
        </p:txBody>
      </p:sp>
      <p:sp>
        <p:nvSpPr>
          <p:cNvPr id="9" name="api-node">
            <a:extLst xmlns:a="http://schemas.openxmlformats.org/drawingml/2006/main">
              <a:ext uri="{FF2B5EF4-FFF2-40B4-BE49-F238E27FC236}">
                <a16:creationId xmlns:a16="http://schemas.microsoft.com/office/drawing/2014/main" id="{831C683F-5CB8-4DF8-8984-58DEC60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6450"/>
            <a:ext cx="2381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227C72"/>
            </a:solidFill>
            <a:prstDash val="solid"/>
          </a:ln>
        </p:spPr>
      </p:sp>
      <p:sp>
        <p:nvSpPr>
          <p:cNvPr id="10" name="api-node-label">
            <a:extLst xmlns:a="http://schemas.openxmlformats.org/drawingml/2006/main">
              <a:ext uri="{FF2B5EF4-FFF2-40B4-BE49-F238E27FC236}">
                <a16:creationId xmlns:a16="http://schemas.microsoft.com/office/drawing/2014/main" id="{E992333C-0664-4186-B77C-8954C041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62175"/>
            <a:ext cx="2152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FastAPI backend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implemented locally</a:t>
            </a:r>
          </a:p>
        </p:txBody>
      </p:sp>
      <p:sp>
        <p:nvSpPr>
          <p:cNvPr id="11" name="database-node">
            <a:extLst xmlns:a="http://schemas.openxmlformats.org/drawingml/2006/main">
              <a:ext uri="{FF2B5EF4-FFF2-40B4-BE49-F238E27FC236}">
                <a16:creationId xmlns:a16="http://schemas.microsoft.com/office/drawing/2014/main" id="{B0CFFB93-0E14-47EF-9A2E-95BBECB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22669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227C72"/>
            </a:solidFill>
            <a:prstDash val="solid"/>
          </a:ln>
        </p:spPr>
      </p:sp>
      <p:sp>
        <p:nvSpPr>
          <p:cNvPr id="12" name="database-node-label">
            <a:extLst xmlns:a="http://schemas.openxmlformats.org/drawingml/2006/main">
              <a:ext uri="{FF2B5EF4-FFF2-40B4-BE49-F238E27FC236}">
                <a16:creationId xmlns:a16="http://schemas.microsoft.com/office/drawing/2014/main" id="{36084A20-CEAD-43DB-A562-242EDB7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1457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local development</a:t>
            </a:r>
          </a:p>
        </p:txBody>
      </p:sp>
      <p:sp>
        <p:nvSpPr>
          <p:cNvPr id="13" name="queue-node">
            <a:extLst xmlns:a="http://schemas.openxmlformats.org/drawingml/2006/main">
              <a:ext uri="{FF2B5EF4-FFF2-40B4-BE49-F238E27FC236}">
                <a16:creationId xmlns:a16="http://schemas.microsoft.com/office/drawing/2014/main" id="{924615D9-78A8-408A-AB3D-E9A8009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23812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227C72"/>
            </a:solidFill>
            <a:prstDash val="solid"/>
          </a:ln>
        </p:spPr>
      </p:sp>
      <p:sp>
        <p:nvSpPr>
          <p:cNvPr id="14" name="queue-node-label">
            <a:extLst xmlns:a="http://schemas.openxmlformats.org/drawingml/2006/main">
              <a:ext uri="{FF2B5EF4-FFF2-40B4-BE49-F238E27FC236}">
                <a16:creationId xmlns:a16="http://schemas.microsoft.com/office/drawing/2014/main" id="{9285DEFC-3644-4C8B-9836-F22E9F7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290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Database job queue</a:t>
            </a:r>
          </a:p>
        </p:txBody>
      </p:sp>
      <p:sp>
        <p:nvSpPr>
          <p:cNvPr id="15" name="worker-node">
            <a:extLst xmlns:a="http://schemas.openxmlformats.org/drawingml/2006/main">
              <a:ext uri="{FF2B5EF4-FFF2-40B4-BE49-F238E27FC236}">
                <a16:creationId xmlns:a16="http://schemas.microsoft.com/office/drawing/2014/main" id="{BB58D3E8-5658-4C54-9066-41C08C6E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3812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227C72"/>
            </a:solidFill>
            <a:prstDash val="solid"/>
          </a:ln>
        </p:spPr>
      </p:sp>
      <p:sp>
        <p:nvSpPr>
          <p:cNvPr id="16" name="worker-node-label">
            <a:extLst xmlns:a="http://schemas.openxmlformats.org/drawingml/2006/main">
              <a:ext uri="{FF2B5EF4-FFF2-40B4-BE49-F238E27FC236}">
                <a16:creationId xmlns:a16="http://schemas.microsoft.com/office/drawing/2014/main" id="{5CCD561A-D741-4DD0-A2A0-785D15F1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482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Background worker</a:t>
            </a:r>
          </a:p>
        </p:txBody>
      </p:sp>
      <p:sp>
        <p:nvSpPr>
          <p:cNvPr id="17" name="mock-node">
            <a:extLst xmlns:a="http://schemas.openxmlformats.org/drawingml/2006/main">
              <a:ext uri="{FF2B5EF4-FFF2-40B4-BE49-F238E27FC236}">
                <a16:creationId xmlns:a16="http://schemas.microsoft.com/office/drawing/2014/main" id="{985F33E4-43E7-497C-A074-FAF98442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22669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227C72"/>
            </a:solidFill>
            <a:prstDash val="solid"/>
          </a:ln>
        </p:spPr>
      </p:sp>
      <p:sp>
        <p:nvSpPr>
          <p:cNvPr id="18" name="mock-node-label">
            <a:extLst xmlns:a="http://schemas.openxmlformats.org/drawingml/2006/main">
              <a:ext uri="{FF2B5EF4-FFF2-40B4-BE49-F238E27FC236}">
                <a16:creationId xmlns:a16="http://schemas.microsoft.com/office/drawing/2014/main" id="{E652F963-1C31-457F-84A6-D3CF7947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482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Mock classifier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current default</a:t>
            </a:r>
          </a:p>
        </p:txBody>
      </p:sp>
      <p:sp>
        <p:nvSpPr>
          <p:cNvPr id="19" name="gemini-node">
            <a:extLst xmlns:a="http://schemas.openxmlformats.org/drawingml/2006/main">
              <a:ext uri="{FF2B5EF4-FFF2-40B4-BE49-F238E27FC236}">
                <a16:creationId xmlns:a16="http://schemas.microsoft.com/office/drawing/2014/main" id="{4B8B12CF-3D06-46B7-B41B-F68E8DD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15000"/>
            <a:ext cx="1943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7D8"/>
          </a:solidFill>
          <a:ln xmlns:a="http://schemas.openxmlformats.org/drawingml/2006/main" w="19050">
            <a:solidFill>
              <a:srgbClr val="C8753D"/>
            </a:solidFill>
            <a:prstDash val="solid"/>
          </a:ln>
        </p:spPr>
      </p:sp>
      <p:sp>
        <p:nvSpPr>
          <p:cNvPr id="20" name="gemini-node-label">
            <a:extLst xmlns:a="http://schemas.openxmlformats.org/drawingml/2006/main">
              <a:ext uri="{FF2B5EF4-FFF2-40B4-BE49-F238E27FC236}">
                <a16:creationId xmlns:a16="http://schemas.microsoft.com/office/drawing/2014/main" id="{5834182D-9E2F-48AC-9776-D24E8FB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007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539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Gemini API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21" name="asr-node">
            <a:extLst xmlns:a="http://schemas.openxmlformats.org/drawingml/2006/main">
              <a:ext uri="{FF2B5EF4-FFF2-40B4-BE49-F238E27FC236}">
                <a16:creationId xmlns:a16="http://schemas.microsoft.com/office/drawing/2014/main" id="{3D26F35D-DED2-4396-B910-52C4A781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15000"/>
            <a:ext cx="2190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7D8"/>
          </a:solidFill>
          <a:ln xmlns:a="http://schemas.openxmlformats.org/drawingml/2006/main" w="19050">
            <a:solidFill>
              <a:srgbClr val="C8753D"/>
            </a:solidFill>
            <a:prstDash val="solid"/>
          </a:ln>
        </p:spPr>
      </p:sp>
      <p:sp>
        <p:nvSpPr>
          <p:cNvPr id="22" name="asr-node-label">
            <a:extLst xmlns:a="http://schemas.openxmlformats.org/drawingml/2006/main">
              <a:ext uri="{FF2B5EF4-FFF2-40B4-BE49-F238E27FC236}">
                <a16:creationId xmlns:a16="http://schemas.microsoft.com/office/drawing/2014/main" id="{882B9EFE-1D5F-46F8-A208-86599C8E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0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539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Teammate ASR</a:t>
            </a:r>
          </a:p>
          <a:p xmlns:a="http://schemas.openxmlformats.org/drawingml/2006/main">
            <a:pPr algn="ctr">
              <a:defRPr sz="1575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609850" y="2628900"/>
            <a:ext cx="762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753D"/>
            </a:solidFill>
            <a:prstDash val="dash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53100" y="2628900"/>
            <a:ext cx="15811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7C72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562475" y="3181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7C72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562475" y="43053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7C72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53100" y="51435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7C72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562475" y="5524500"/>
            <a:ext cx="30194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753D"/>
            </a:solidFill>
            <a:prstDash val="dash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62475" y="5524500"/>
            <a:ext cx="5810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753D"/>
            </a:solidFill>
            <a:prstDash val="dash"/>
            <a:tailEnd type="triangle" w="sm" len="sm"/>
          </a:ln>
        </p:spPr>
      </p:cxnSp>
      <p:sp>
        <p:nvSpPr>
          <p:cNvPr id="30" name="architecture-deploy-note">
            <a:extLst xmlns:a="http://schemas.openxmlformats.org/drawingml/2006/main">
              <a:ext uri="{FF2B5EF4-FFF2-40B4-BE49-F238E27FC236}">
                <a16:creationId xmlns:a16="http://schemas.microsoft.com/office/drawing/2014/main" id="{54160AB6-7C8B-4DDB-914C-45979D9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B73"/>
                </a:solidFill>
                <a:latin typeface="Arial"/>
                <a:ea typeface="Arial"/>
                <a:cs typeface="Arial"/>
              </a:rPr>
              <a:t>Proposed hosting: Firebase Hosting · Cloud Run · Cloud SQL. These services are not deployed yet.</a:t>
            </a:r>
          </a:p>
        </p:txBody>
      </p:sp>
    </p:spTree>
    <p:extLst>
      <p:ext uri="{BB962C8B-B14F-4D97-AF65-F5344CB8AC3E}">
        <p14:creationId xmlns:p14="http://schemas.microsoft.com/office/powerpoint/2010/main" val="324544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1C4EE8-A53F-481E-8BAE-B2E3C34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6"/>
                </a:solidFill>
                <a:latin typeface="Arial"/>
                <a:ea typeface="Arial"/>
                <a:cs typeface="Arial"/>
              </a:rPr>
              <a:t>Human review keeps the system advisory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0B9DE0-9D34-46F6-97D0-0E9997EE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uardrail-title-0">
            <a:extLst xmlns:a="http://schemas.openxmlformats.org/drawingml/2006/main">
              <a:ext uri="{FF2B5EF4-FFF2-40B4-BE49-F238E27FC236}">
                <a16:creationId xmlns:a16="http://schemas.microsoft.com/office/drawing/2014/main" id="{DA8E48FE-3A34-4B9C-8B52-ACF273C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Staff review proposals</a:t>
            </a:r>
          </a:p>
        </p:txBody>
      </p:sp>
      <p:sp>
        <p:nvSpPr>
          <p:cNvPr id="4" name="guardrail-copy-0">
            <a:extLst xmlns:a="http://schemas.openxmlformats.org/drawingml/2006/main">
              <a:ext uri="{FF2B5EF4-FFF2-40B4-BE49-F238E27FC236}">
                <a16:creationId xmlns:a16="http://schemas.microsoft.com/office/drawing/2014/main" id="{C7AFD5F7-3FA0-4060-83E4-7EE0E4E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6"/>
                </a:solidFill>
                <a:latin typeface="Arial"/>
                <a:ea typeface="Arial"/>
                <a:cs typeface="Arial"/>
              </a:rPr>
              <a:t>The API exposes a staff queue, status changes, classification corrections, and audit records for review actions.</a:t>
            </a:r>
          </a:p>
        </p:txBody>
      </p:sp>
      <p:sp>
        <p:nvSpPr>
          <p:cNvPr id="5" name="guardrail-divider-0">
            <a:extLst xmlns:a="http://schemas.openxmlformats.org/drawingml/2006/main">
              <a:ext uri="{FF2B5EF4-FFF2-40B4-BE49-F238E27FC236}">
                <a16:creationId xmlns:a16="http://schemas.microsoft.com/office/drawing/2014/main" id="{D9A36397-176F-4B54-8F98-C667E385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uardrail-title-1">
            <a:extLst xmlns:a="http://schemas.openxmlformats.org/drawingml/2006/main">
              <a:ext uri="{FF2B5EF4-FFF2-40B4-BE49-F238E27FC236}">
                <a16:creationId xmlns:a16="http://schemas.microsoft.com/office/drawing/2014/main" id="{60C0446A-1615-4C1A-ABE5-6BC0FFB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Counts stay descriptive</a:t>
            </a:r>
          </a:p>
        </p:txBody>
      </p:sp>
      <p:sp>
        <p:nvSpPr>
          <p:cNvPr id="7" name="guardrail-copy-1">
            <a:extLst xmlns:a="http://schemas.openxmlformats.org/drawingml/2006/main">
              <a:ext uri="{FF2B5EF4-FFF2-40B4-BE49-F238E27FC236}">
                <a16:creationId xmlns:a16="http://schemas.microsoft.com/office/drawing/2014/main" id="{861C203A-8DDC-4EB9-8255-FE04949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6"/>
                </a:solidFill>
                <a:latin typeface="Arial"/>
                <a:ea typeface="Arial"/>
                <a:cs typeface="Arial"/>
              </a:rPr>
              <a:t>Analytics return report counts by status or district. The API labels district totals advisory and does not adjust for population.</a:t>
            </a:r>
          </a:p>
        </p:txBody>
      </p:sp>
      <p:sp>
        <p:nvSpPr>
          <p:cNvPr id="8" name="guardrail-divider-1">
            <a:extLst xmlns:a="http://schemas.openxmlformats.org/drawingml/2006/main">
              <a:ext uri="{FF2B5EF4-FFF2-40B4-BE49-F238E27FC236}">
                <a16:creationId xmlns:a16="http://schemas.microsoft.com/office/drawing/2014/main" id="{D100E5D7-ACCE-4484-980D-8CCDDDE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uardrail-title-2">
            <a:extLst xmlns:a="http://schemas.openxmlformats.org/drawingml/2006/main">
              <a:ext uri="{FF2B5EF4-FFF2-40B4-BE49-F238E27FC236}">
                <a16:creationId xmlns:a16="http://schemas.microsoft.com/office/drawing/2014/main" id="{4E14CB38-D249-464D-94F1-D5B57E4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7C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72"/>
                </a:solidFill>
                <a:latin typeface="Arial"/>
                <a:ea typeface="Arial"/>
                <a:cs typeface="Arial"/>
              </a:rPr>
              <a:t>Originals remain central</a:t>
            </a:r>
          </a:p>
        </p:txBody>
      </p:sp>
      <p:sp>
        <p:nvSpPr>
          <p:cNvPr id="10" name="guardrail-copy-2">
            <a:extLst xmlns:a="http://schemas.openxmlformats.org/drawingml/2006/main">
              <a:ext uri="{FF2B5EF4-FFF2-40B4-BE49-F238E27FC236}">
                <a16:creationId xmlns:a16="http://schemas.microsoft.com/office/drawing/2014/main" id="{BC872FDE-1765-4310-811A-789E03FE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6"/>
                </a:solidFill>
                <a:latin typeface="Arial"/>
                <a:ea typeface="Arial"/>
                <a:cs typeface="Arial"/>
              </a:rPr>
              <a:t>The workflow is designed to retain original feedback alongside any future transcript or model proposal.</a:t>
            </a:r>
          </a:p>
        </p:txBody>
      </p:sp>
      <p:sp>
        <p:nvSpPr>
          <p:cNvPr id="11" name="impact-note">
            <a:extLst xmlns:a="http://schemas.openxmlformats.org/drawingml/2006/main">
              <a:ext uri="{FF2B5EF4-FFF2-40B4-BE49-F238E27FC236}">
                <a16:creationId xmlns:a16="http://schemas.microsoft.com/office/drawing/2014/main" id="{155891C9-BDE2-4009-8FF3-62FAD77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B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B73"/>
                </a:solidFill>
                <a:latin typeface="Arial"/>
                <a:ea typeface="Arial"/>
                <a:cs typeface="Arial"/>
              </a:rPr>
              <a:t>Expected value: make submissions easier to organize and review. Impact still needs to be measured with residents and service teams.</a:t>
            </a:r>
          </a:p>
        </p:txBody>
      </p:sp>
    </p:spTree>
    <p:extLst>
      <p:ext uri="{BB962C8B-B14F-4D97-AF65-F5344CB8AC3E}">
        <p14:creationId xmlns:p14="http://schemas.microsoft.com/office/powerpoint/2010/main" val="1254934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emo-title">
            <a:extLst xmlns:a="http://schemas.openxmlformats.org/drawingml/2006/main">
              <a:ext uri="{FF2B5EF4-FFF2-40B4-BE49-F238E27FC236}">
                <a16:creationId xmlns:a16="http://schemas.microsoft.com/office/drawing/2014/main" id="{4351D7D0-785A-4C33-9F33-C1D196BE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team can demonstrate today</a:t>
            </a:r>
          </a:p>
        </p:txBody>
      </p:sp>
      <p:sp>
        <p:nvSpPr>
          <p:cNvPr id="2" name="demo-title-rule">
            <a:extLst xmlns:a="http://schemas.openxmlformats.org/drawingml/2006/main">
              <a:ext uri="{FF2B5EF4-FFF2-40B4-BE49-F238E27FC236}">
                <a16:creationId xmlns:a16="http://schemas.microsoft.com/office/drawing/2014/main" id="{2EFDCDCB-F8F8-4DD4-83B9-92BB318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64147D5B-1221-4EFB-B2E2-361A6C4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3C7B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3C7B8"/>
                </a:solidFill>
                <a:latin typeface="Arial"/>
                <a:ea typeface="Arial"/>
                <a:cs typeface="Arial"/>
              </a:rPr>
              <a:t>Backend/API prototype</a:t>
            </a:r>
          </a:p>
        </p:txBody>
      </p:sp>
      <p:sp>
        <p:nvSpPr>
          <p:cNvPr id="4" name="demo-steps">
            <a:extLst xmlns:a="http://schemas.openxmlformats.org/drawingml/2006/main">
              <a:ext uri="{FF2B5EF4-FFF2-40B4-BE49-F238E27FC236}">
                <a16:creationId xmlns:a16="http://schemas.microsoft.com/office/drawing/2014/main" id="{80BF8CA7-0973-4946-9177-7115557F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Submit sample text in Swagger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Show the returned receipt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Keep the worker running and inspect the proposal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 Open the staff queue and analytics routes</a:t>
            </a:r>
          </a:p>
        </p:txBody>
      </p:sp>
      <p:sp>
        <p:nvSpPr>
          <p:cNvPr id="5" name="docs-url">
            <a:extLst xmlns:a="http://schemas.openxmlformats.org/drawingml/2006/main">
              <a:ext uri="{FF2B5EF4-FFF2-40B4-BE49-F238E27FC236}">
                <a16:creationId xmlns:a16="http://schemas.microsoft.com/office/drawing/2014/main" id="{C6F24C25-0310-49A5-82AD-34F7CAA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4E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6E4E6"/>
                </a:solidFill>
                <a:latin typeface="Arial"/>
                <a:ea typeface="Arial"/>
                <a:cs typeface="Arial"/>
              </a:rPr>
              <a:t>Local API docs: 127.0.0.1:8000/docs</a:t>
            </a:r>
          </a:p>
        </p:txBody>
      </p:sp>
      <p:sp>
        <p:nvSpPr>
          <p:cNvPr id="6" name="demo-divider">
            <a:extLst xmlns:a="http://schemas.openxmlformats.org/drawingml/2006/main">
              <a:ext uri="{FF2B5EF4-FFF2-40B4-BE49-F238E27FC236}">
                <a16:creationId xmlns:a16="http://schemas.microsoft.com/office/drawing/2014/main" id="{2C607F2B-BA0F-4CA0-B11E-26B15187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190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3C27D064-AFBE-482A-8798-EA44B7C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6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B9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B98D"/>
                </a:solidFill>
                <a:latin typeface="Arial"/>
                <a:ea typeface="Arial"/>
                <a:cs typeface="Arial"/>
              </a:rPr>
              <a:t>Remaining before a full product demo</a:t>
            </a:r>
          </a:p>
        </p:txBody>
      </p:sp>
      <p:sp>
        <p:nvSpPr>
          <p:cNvPr id="8" name="next-copy">
            <a:extLst xmlns:a="http://schemas.openxmlformats.org/drawingml/2006/main">
              <a:ext uri="{FF2B5EF4-FFF2-40B4-BE49-F238E27FC236}">
                <a16:creationId xmlns:a16="http://schemas.microsoft.com/office/drawing/2014/main" id="{7FCF5600-280D-4FF7-909C-BD63D00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619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the teammate’s ASR service.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the mock classifier with Gemini or a deployed NLP service.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the API, database, and private audio storage.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and host the frontend.</a:t>
            </a:r>
          </a:p>
        </p:txBody>
      </p:sp>
      <p:sp>
        <p:nvSpPr>
          <p:cNvPr id="9" name="repo-url">
            <a:extLst xmlns:a="http://schemas.openxmlformats.org/drawingml/2006/main">
              <a:ext uri="{FF2B5EF4-FFF2-40B4-BE49-F238E27FC236}">
                <a16:creationId xmlns:a16="http://schemas.microsoft.com/office/drawing/2014/main" id="{B6986153-70EB-48E5-BBD7-B5A6D169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4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E6"/>
                </a:solidFill>
                <a:latin typeface="Arial"/>
                <a:ea typeface="Arial"/>
                <a:cs typeface="Arial"/>
              </a:rPr>
              <a:t>Public repository</a:t>
            </a:r>
          </a:p>
          <a:p xmlns:a="http://schemas.openxmlformats.org/drawingml/2006/main">
            <a:pPr algn="l">
              <a:defRPr sz="1275" b="0">
                <a:solidFill>
                  <a:srgbClr val="D6E4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E6"/>
                </a:solidFill>
                <a:latin typeface="Arial"/>
                <a:ea typeface="Arial"/>
                <a:cs typeface="Arial"/>
              </a:rPr>
              <a:t>https://github.com/SauravKumar2015/AI-for-Digital-Public-Infrastructure-Governance</a:t>
            </a:r>
          </a:p>
        </p:txBody>
      </p:sp>
    </p:spTree>
    <p:extLst>
      <p:ext uri="{BB962C8B-B14F-4D97-AF65-F5344CB8AC3E}">
        <p14:creationId xmlns:p14="http://schemas.microsoft.com/office/powerpoint/2010/main" val="1710087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2026-09-30T15:27:53.5110000Z</dcterms:created>
  <dcterms:modified xsi:type="dcterms:W3CDTF">2026-09-30T15:27:53.5110000Z</dcterms:modified>
</coreProperties>
</file>